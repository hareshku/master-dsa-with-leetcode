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lesson covers what a programming language is, how Python fits in, and the core building blocks you need before writing real programs.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lesson runs in two parts: foundations first, then control flow, loops and functions, followed by practice problems and assignments.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the term plainly: a programming language is how people give instructions to a computer.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Java, Python and C++ are high-level languages written for humans. Computers only understand low-level binary, so a compiler or interpreter does the translation.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compiler analyzes the whole program first, which is slow, but the compiled code then runs fast. An interpreter works line by line and reports errors as it reaches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is interpreted, high-level and object-oriented, with extensive libraries. It is popular for backend work, AI, machine learning and data science, and for automation and scripting.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Variables hold data, keywords are words Python has reserved, identifiers are the names you choose, and comments are notes that Python does not execute.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variable is a labelled container: monday holds 87, tuesday holds 64, and avg holds their average, 75.5, which print displays.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rules for naming variables, functions and classes. Remember that Python treats uppercase and lowercase letters as different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# for a single-line comment and triple quotes for a comment that spans several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B1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29320"/>
            <a:ext cx="10566400" cy="447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F2EFE8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81134"/>
            <a:ext cx="10566400" cy="4064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29320"/>
            <a:ext cx="10566400" cy="447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F2EFE8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81134"/>
            <a:ext cx="10566400" cy="4064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280" y="812800"/>
            <a:ext cx="4185920" cy="2402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6240"/>
              </a:lnSpc>
              <a:buNone/>
            </a:pPr>
            <a:r>
              <a:rPr lang="en-US" sz="4800" dirty="0">
                <a:solidFill>
                  <a:srgbClr val="2C323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0110 0011</a:t>
            </a:r>
            <a:endParaRPr lang="en-US" sz="4800" dirty="0"/>
          </a:p>
          <a:p>
            <a:pPr algn="r" indent="0" marL="0">
              <a:lnSpc>
                <a:spcPts val="6240"/>
              </a:lnSpc>
              <a:buNone/>
            </a:pPr>
            <a:r>
              <a:rPr lang="en-US" sz="4800" dirty="0">
                <a:solidFill>
                  <a:srgbClr val="2C323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0100 1001</a:t>
            </a:r>
            <a:endParaRPr lang="en-US" sz="4800" dirty="0"/>
          </a:p>
          <a:p>
            <a:pPr algn="r" indent="0" marL="0">
              <a:lnSpc>
                <a:spcPts val="6240"/>
              </a:lnSpc>
              <a:buNone/>
            </a:pPr>
            <a:r>
              <a:rPr lang="en-US" sz="4800" dirty="0">
                <a:solidFill>
                  <a:srgbClr val="2C323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1100 0101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12800" y="2103173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PROGRAMMING FUNDAMENTALS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12800" y="2519693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FF8A1F"/>
          </a:solidFill>
          <a:ln/>
        </p:spPr>
      </p:sp>
      <p:sp>
        <p:nvSpPr>
          <p:cNvPr id="5" name="Text 3"/>
          <p:cNvSpPr/>
          <p:nvPr>
            <p:ph type="title"/>
          </p:nvPr>
        </p:nvSpPr>
        <p:spPr>
          <a:xfrm>
            <a:off x="812800" y="2773693"/>
            <a:ext cx="10883392" cy="151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2EFE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Python</a:t>
            </a:r>
            <a:endParaRPr lang="en-US" sz="5600" dirty="0"/>
          </a:p>
          <a:p>
            <a:pPr algn="l" indent="0" marL="0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2EFE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Programming Basics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12800" y="4470334"/>
            <a:ext cx="784860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3C8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Languages, variables, operators, data types, control flow, loops and functions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2EFE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Today’s 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79534"/>
            <a:ext cx="5181600" cy="3103827"/>
          </a:xfrm>
          <a:prstGeom prst="roundRect">
            <a:avLst>
              <a:gd name="adj" fmla="val 3273"/>
            </a:avLst>
          </a:prstGeom>
          <a:solidFill>
            <a:srgbClr val="262B31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133534"/>
            <a:ext cx="4813808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8A1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Foundations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30808" y="2595761"/>
            <a:ext cx="474218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is a programming language?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High-level vs low-level languages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Compiler vs interpreter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Introduction to Python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Variables, keywords, identifiers, comments, operators, data types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Input and output in Python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97600" y="1879534"/>
            <a:ext cx="5181600" cy="3103827"/>
          </a:xfrm>
          <a:prstGeom prst="roundRect">
            <a:avLst>
              <a:gd name="adj" fmla="val 3273"/>
            </a:avLst>
          </a:prstGeom>
          <a:solidFill>
            <a:srgbClr val="262B31"/>
          </a:solidFill>
          <a:ln/>
        </p:spPr>
      </p:sp>
      <p:sp>
        <p:nvSpPr>
          <p:cNvPr id="8" name="Text 6"/>
          <p:cNvSpPr/>
          <p:nvPr/>
        </p:nvSpPr>
        <p:spPr>
          <a:xfrm>
            <a:off x="6451600" y="2133534"/>
            <a:ext cx="4813808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8A1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Control flow and practice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15608" y="2595761"/>
            <a:ext cx="4742180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 statements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Loops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Functions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Problems on control statements and loops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Problems on functions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Assignments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2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Basics · 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8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88874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B1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456194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1E2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What is a programming language?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3157207"/>
            <a:ext cx="9483725" cy="1534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200" dirty="0">
                <a:solidFill>
                  <a:srgbClr val="1B1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programming language is a formal language that provides instructions for a computer to execute. It’s how humans communicate with computers to create software, applications, and other technology.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320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Basics · 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2EFE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High-level vs low-level programming languages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79535"/>
            <a:ext cx="3302000" cy="2199481"/>
          </a:xfrm>
          <a:prstGeom prst="roundRect">
            <a:avLst>
              <a:gd name="adj" fmla="val 4619"/>
            </a:avLst>
          </a:prstGeom>
          <a:solidFill>
            <a:srgbClr val="262B31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133535"/>
            <a:ext cx="28778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8AD14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HIGH-LEVEL · HUMAN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2448455"/>
            <a:ext cx="287782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2EF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Java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66800" y="2941176"/>
            <a:ext cx="287782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2EF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Python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66800" y="3433896"/>
            <a:ext cx="287782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2EF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C++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557599" y="2136048"/>
            <a:ext cx="1076801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8A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Compiler</a:t>
            </a:r>
            <a:endParaRPr lang="en-US" sz="1600" dirty="0"/>
          </a:p>
        </p:txBody>
      </p:sp>
      <p:pic>
        <p:nvPicPr>
          <p:cNvPr id="10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61000" y="2522076"/>
            <a:ext cx="1270000" cy="406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52514" y="3030076"/>
            <a:ext cx="1286907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8A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Interpreter</a:t>
            </a:r>
            <a:endParaRPr lang="en-US" sz="1600" dirty="0"/>
          </a:p>
        </p:txBody>
      </p:sp>
      <p:pic>
        <p:nvPicPr>
          <p:cNvPr id="12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61000" y="3416102"/>
            <a:ext cx="1270000" cy="4064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077200" y="2125861"/>
            <a:ext cx="3302000" cy="1706761"/>
          </a:xfrm>
          <a:prstGeom prst="roundRect">
            <a:avLst>
              <a:gd name="adj" fmla="val 5953"/>
            </a:avLst>
          </a:prstGeom>
          <a:solidFill>
            <a:srgbClr val="262B31"/>
          </a:solidFill>
          <a:ln/>
        </p:spPr>
      </p:sp>
      <p:sp>
        <p:nvSpPr>
          <p:cNvPr id="14" name="Text 10"/>
          <p:cNvSpPr/>
          <p:nvPr/>
        </p:nvSpPr>
        <p:spPr>
          <a:xfrm>
            <a:off x="8331200" y="2379861"/>
            <a:ext cx="28778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8AD14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LOW-LEVEL · COMPUTER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331200" y="2694781"/>
            <a:ext cx="287782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2EF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0110001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8331200" y="3187502"/>
            <a:ext cx="287782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2EF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0100100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812800" y="4282216"/>
            <a:ext cx="9156700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3C8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compiler or an interpreter translates high-level code that humans write into the low-level code a computer understands.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2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Basics · 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2EFE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Compiler vs interpreter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79535"/>
            <a:ext cx="5181600" cy="2164027"/>
          </a:xfrm>
          <a:prstGeom prst="roundRect">
            <a:avLst>
              <a:gd name="adj" fmla="val 4695"/>
            </a:avLst>
          </a:prstGeom>
          <a:solidFill>
            <a:srgbClr val="262B31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133535"/>
            <a:ext cx="4813808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8A1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Compiler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30808" y="2570361"/>
            <a:ext cx="474218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Converts the whole code at once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Shows errors all at once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Slow to analyze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Compiled code runs fast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97600" y="1879535"/>
            <a:ext cx="5181600" cy="2164027"/>
          </a:xfrm>
          <a:prstGeom prst="roundRect">
            <a:avLst>
              <a:gd name="adj" fmla="val 4695"/>
            </a:avLst>
          </a:prstGeom>
          <a:solidFill>
            <a:srgbClr val="262B31"/>
          </a:solidFill>
          <a:ln/>
        </p:spPr>
      </p:sp>
      <p:sp>
        <p:nvSpPr>
          <p:cNvPr id="8" name="Text 6"/>
          <p:cNvSpPr/>
          <p:nvPr/>
        </p:nvSpPr>
        <p:spPr>
          <a:xfrm>
            <a:off x="6451600" y="2133535"/>
            <a:ext cx="4813808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8A1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Interpreter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15608" y="2570361"/>
            <a:ext cx="474218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Converts and runs code line by line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Shows errors line by line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4246761"/>
            <a:ext cx="722379" cy="487627"/>
          </a:xfrm>
          <a:prstGeom prst="roundRect">
            <a:avLst>
              <a:gd name="adj" fmla="val 15627"/>
            </a:avLst>
          </a:prstGeom>
          <a:solidFill>
            <a:srgbClr val="262B31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HLL</a:t>
            </a:r>
            <a:endParaRPr lang="en-US" sz="1600" dirty="0"/>
          </a:p>
        </p:txBody>
      </p:sp>
      <p:pic>
        <p:nvPicPr>
          <p:cNvPr id="11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36779" y="4388976"/>
            <a:ext cx="406400" cy="203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151129" y="4253111"/>
            <a:ext cx="1760075" cy="474927"/>
          </a:xfrm>
          <a:prstGeom prst="roundRect">
            <a:avLst>
              <a:gd name="adj" fmla="val 14708"/>
            </a:avLst>
          </a:prstGeom>
          <a:noFill/>
          <a:ln w="12700">
            <a:solidFill>
              <a:srgbClr val="FF8A1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8A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Analyze (slow)</a:t>
            </a:r>
            <a:endParaRPr lang="en-US" sz="1600" dirty="0"/>
          </a:p>
        </p:txBody>
      </p:sp>
      <p:pic>
        <p:nvPicPr>
          <p:cNvPr id="1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19153" y="4388976"/>
            <a:ext cx="406400" cy="203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7153" y="4246761"/>
            <a:ext cx="690893" cy="487627"/>
          </a:xfrm>
          <a:prstGeom prst="roundRect">
            <a:avLst>
              <a:gd name="adj" fmla="val 15627"/>
            </a:avLst>
          </a:prstGeom>
          <a:solidFill>
            <a:srgbClr val="262B31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LLL</a:t>
            </a:r>
            <a:endParaRPr lang="en-US" sz="1600" dirty="0"/>
          </a:p>
        </p:txBody>
      </p:sp>
      <p:pic>
        <p:nvPicPr>
          <p:cNvPr id="15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319647" y="4388976"/>
            <a:ext cx="406400" cy="203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833997" y="4253111"/>
            <a:ext cx="2271183" cy="474927"/>
          </a:xfrm>
          <a:prstGeom prst="roundRect">
            <a:avLst>
              <a:gd name="adj" fmla="val 14708"/>
            </a:avLst>
          </a:prstGeom>
          <a:noFill/>
          <a:ln w="12700">
            <a:solidFill>
              <a:srgbClr val="8AD14B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8AD14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 / execute (fast)</a:t>
            </a:r>
            <a:endParaRPr lang="en-US" sz="1600" dirty="0"/>
          </a:p>
        </p:txBody>
      </p:sp>
      <p:pic>
        <p:nvPicPr>
          <p:cNvPr id="17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213130" y="4388976"/>
            <a:ext cx="406400" cy="203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721130" y="4246761"/>
            <a:ext cx="1062170" cy="487627"/>
          </a:xfrm>
          <a:prstGeom prst="roundRect">
            <a:avLst>
              <a:gd name="adj" fmla="val 15627"/>
            </a:avLst>
          </a:prstGeom>
          <a:solidFill>
            <a:srgbClr val="262B31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Output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12800" y="493759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2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HLL = high-level language · LLL = low-level language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2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Basics · 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BASICS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2EFE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Introduction to Python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79535"/>
            <a:ext cx="9810750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3C8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is a versatile, high-level, general-purpose programming language designed for readability and ease of use.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2651590"/>
            <a:ext cx="5791200" cy="2468827"/>
          </a:xfrm>
          <a:prstGeom prst="roundRect">
            <a:avLst>
              <a:gd name="adj" fmla="val 4115"/>
            </a:avLst>
          </a:prstGeom>
          <a:solidFill>
            <a:srgbClr val="262B31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2905590"/>
            <a:ext cx="5441696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8A1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30808" y="3342416"/>
            <a:ext cx="5370068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Interpreted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High-level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Object-oriented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Extensive libraries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Beginner-friendly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07200" y="2651590"/>
            <a:ext cx="4572000" cy="2468827"/>
          </a:xfrm>
          <a:prstGeom prst="roundRect">
            <a:avLst>
              <a:gd name="adj" fmla="val 4115"/>
            </a:avLst>
          </a:prstGeom>
          <a:solidFill>
            <a:srgbClr val="262B31"/>
          </a:solidFill>
          <a:ln/>
        </p:spPr>
      </p:sp>
      <p:sp>
        <p:nvSpPr>
          <p:cNvPr id="9" name="Text 7"/>
          <p:cNvSpPr/>
          <p:nvPr/>
        </p:nvSpPr>
        <p:spPr>
          <a:xfrm>
            <a:off x="7061200" y="2905590"/>
            <a:ext cx="4185920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8AD14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Used for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125208" y="3342416"/>
            <a:ext cx="4114292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Backend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/ ML / DS</a:t>
            </a:r>
            <a:endParaRPr lang="en-US" sz="1600" dirty="0"/>
          </a:p>
          <a:p>
            <a:pPr algn="l" marL="189992" indent="-1899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Automation / scripting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2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Basics · 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BASICS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2EFE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Variables, keywords, identifiers, comments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79535"/>
            <a:ext cx="2527300" cy="2097815"/>
          </a:xfrm>
          <a:prstGeom prst="roundRect">
            <a:avLst>
              <a:gd name="adj" fmla="val 4843"/>
            </a:avLst>
          </a:prstGeom>
          <a:solidFill>
            <a:srgbClr val="262B31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108135"/>
            <a:ext cx="2132203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8A1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Variables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41400" y="2544961"/>
            <a:ext cx="2132203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Containers that store data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41400" y="3215416"/>
            <a:ext cx="2132203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AD14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monday = 87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92500" y="1879535"/>
            <a:ext cx="2527300" cy="2097815"/>
          </a:xfrm>
          <a:prstGeom prst="roundRect">
            <a:avLst>
              <a:gd name="adj" fmla="val 4843"/>
            </a:avLst>
          </a:prstGeom>
          <a:solidFill>
            <a:srgbClr val="262B31"/>
          </a:solidFill>
          <a:ln/>
        </p:spPr>
      </p:sp>
      <p:sp>
        <p:nvSpPr>
          <p:cNvPr id="9" name="Text 7"/>
          <p:cNvSpPr/>
          <p:nvPr/>
        </p:nvSpPr>
        <p:spPr>
          <a:xfrm>
            <a:off x="3721100" y="2108135"/>
            <a:ext cx="2132203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8A1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Keywords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721100" y="2544961"/>
            <a:ext cx="2132203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Predefined words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21100" y="2930990"/>
            <a:ext cx="2132203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AD14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· else · def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1879535"/>
            <a:ext cx="2527300" cy="2097815"/>
          </a:xfrm>
          <a:prstGeom prst="roundRect">
            <a:avLst>
              <a:gd name="adj" fmla="val 4843"/>
            </a:avLst>
          </a:prstGeom>
          <a:solidFill>
            <a:srgbClr val="262B3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108135"/>
            <a:ext cx="2132203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8A1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Identifiers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0" y="2544961"/>
            <a:ext cx="2132203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Names that we provide to variables, functions and classes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499842"/>
            <a:ext cx="2132203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AD14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monday · avg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51900" y="1879535"/>
            <a:ext cx="2527300" cy="2097815"/>
          </a:xfrm>
          <a:prstGeom prst="roundRect">
            <a:avLst>
              <a:gd name="adj" fmla="val 4843"/>
            </a:avLst>
          </a:prstGeom>
          <a:solidFill>
            <a:srgbClr val="262B31"/>
          </a:solidFill>
          <a:ln/>
        </p:spPr>
      </p:sp>
      <p:sp>
        <p:nvSpPr>
          <p:cNvPr id="17" name="Text 15"/>
          <p:cNvSpPr/>
          <p:nvPr/>
        </p:nvSpPr>
        <p:spPr>
          <a:xfrm>
            <a:off x="9080500" y="2108135"/>
            <a:ext cx="2132203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8A1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Comments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80500" y="2544961"/>
            <a:ext cx="2132203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Unexecutable statements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80500" y="3215416"/>
            <a:ext cx="2132203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AD14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a comment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2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Basics · 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BASICS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2EFE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Variables in action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79535"/>
            <a:ext cx="5410200" cy="2819202"/>
          </a:xfrm>
          <a:prstGeom prst="roundRect">
            <a:avLst>
              <a:gd name="adj" fmla="val 3604"/>
            </a:avLst>
          </a:prstGeom>
          <a:solidFill>
            <a:srgbClr val="14171A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133535"/>
            <a:ext cx="50492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8AD14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CODE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2448455"/>
            <a:ext cx="5049266" cy="1976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F2EF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monday = </a:t>
            </a:r>
            <a:r>
              <a:rPr lang="en-US" sz="1600" dirty="0">
                <a:solidFill>
                  <a:srgbClr val="FF8A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87</a:t>
            </a:r>
            <a:endParaRPr lang="en-US" sz="1600" dirty="0"/>
          </a:p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F2EF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tuesday = </a:t>
            </a:r>
            <a:r>
              <a:rPr lang="en-US" sz="1600" dirty="0">
                <a:solidFill>
                  <a:srgbClr val="FF8A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64</a:t>
            </a:r>
            <a:endParaRPr lang="en-US" sz="1600" dirty="0"/>
          </a:p>
          <a:p>
            <a:pPr algn="l" indent="0" marL="0">
              <a:lnSpc>
                <a:spcPts val="2560"/>
              </a:lnSpc>
              <a:buNone/>
            </a:pPr>
            <a:endParaRPr lang="en-US" sz="1600" dirty="0"/>
          </a:p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F2EF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avg = (monday + tuesday) / </a:t>
            </a:r>
            <a:r>
              <a:rPr lang="en-US" sz="1600" dirty="0">
                <a:solidFill>
                  <a:srgbClr val="FF8A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600" dirty="0"/>
          </a:p>
          <a:p>
            <a:pPr algn="l" indent="0" marL="0">
              <a:lnSpc>
                <a:spcPts val="2560"/>
              </a:lnSpc>
              <a:buNone/>
            </a:pPr>
            <a:endParaRPr lang="en-US" sz="1600" dirty="0"/>
          </a:p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F2EF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print(avg)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77000" y="1879535"/>
            <a:ext cx="50492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8AD14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MEMORY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77000" y="2245255"/>
            <a:ext cx="1549400" cy="1137841"/>
          </a:xfrm>
          <a:prstGeom prst="roundRect">
            <a:avLst>
              <a:gd name="adj" fmla="val 8929"/>
            </a:avLst>
          </a:prstGeom>
          <a:solidFill>
            <a:srgbClr val="262B31"/>
          </a:solidFill>
          <a:ln/>
        </p:spPr>
      </p:sp>
      <p:sp>
        <p:nvSpPr>
          <p:cNvPr id="9" name="Text 7"/>
          <p:cNvSpPr/>
          <p:nvPr/>
        </p:nvSpPr>
        <p:spPr>
          <a:xfrm>
            <a:off x="6953178" y="2423055"/>
            <a:ext cx="596979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F8A1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87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812757" y="2920870"/>
            <a:ext cx="877888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2EF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monday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53400" y="2245255"/>
            <a:ext cx="1549400" cy="1137841"/>
          </a:xfrm>
          <a:prstGeom prst="roundRect">
            <a:avLst>
              <a:gd name="adj" fmla="val 8929"/>
            </a:avLst>
          </a:prstGeom>
          <a:solidFill>
            <a:srgbClr val="262B31"/>
          </a:solidFill>
          <a:ln/>
        </p:spPr>
      </p:sp>
      <p:sp>
        <p:nvSpPr>
          <p:cNvPr id="12" name="Text 10"/>
          <p:cNvSpPr/>
          <p:nvPr/>
        </p:nvSpPr>
        <p:spPr>
          <a:xfrm>
            <a:off x="8609886" y="2423055"/>
            <a:ext cx="636429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F8A1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64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415980" y="2920870"/>
            <a:ext cx="102417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2EF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tuesday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829800" y="2245255"/>
            <a:ext cx="1549400" cy="1137841"/>
          </a:xfrm>
          <a:prstGeom prst="roundRect">
            <a:avLst>
              <a:gd name="adj" fmla="val 8929"/>
            </a:avLst>
          </a:prstGeom>
          <a:solidFill>
            <a:srgbClr val="262B3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94198" y="2423055"/>
            <a:ext cx="1020604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F8A1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75.5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0385029" y="2920870"/>
            <a:ext cx="438944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2EF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avg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77000" y="3535496"/>
            <a:ext cx="4902200" cy="1163241"/>
          </a:xfrm>
          <a:prstGeom prst="roundRect">
            <a:avLst>
              <a:gd name="adj" fmla="val 8734"/>
            </a:avLst>
          </a:prstGeom>
          <a:solidFill>
            <a:srgbClr val="262B31"/>
          </a:solidFill>
          <a:ln/>
        </p:spPr>
      </p:sp>
      <p:sp>
        <p:nvSpPr>
          <p:cNvPr id="18" name="Text 16"/>
          <p:cNvSpPr/>
          <p:nvPr/>
        </p:nvSpPr>
        <p:spPr>
          <a:xfrm>
            <a:off x="6731000" y="3789496"/>
            <a:ext cx="45260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8AD14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OUTPUT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31000" y="4053619"/>
            <a:ext cx="452602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2EF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75.5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2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Basics · 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IDENTIFIERS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2EFE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Rules for naming identifiers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79538"/>
            <a:ext cx="10566400" cy="558800"/>
          </a:xfrm>
          <a:prstGeom prst="roundRect">
            <a:avLst>
              <a:gd name="adj" fmla="val 18182"/>
            </a:avLst>
          </a:prstGeom>
          <a:solidFill>
            <a:srgbClr val="262B31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1981138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FF8A1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1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24000" y="2016720"/>
            <a:ext cx="6659325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Allowed characters: a–z, A–Z, 0–9 and the underscore ( _ 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2800" y="2539938"/>
            <a:ext cx="10566400" cy="558800"/>
          </a:xfrm>
          <a:prstGeom prst="roundRect">
            <a:avLst>
              <a:gd name="adj" fmla="val 18182"/>
            </a:avLst>
          </a:prstGeom>
          <a:solidFill>
            <a:srgbClr val="262B31"/>
          </a:solidFill>
          <a:ln/>
        </p:spPr>
      </p:sp>
      <p:sp>
        <p:nvSpPr>
          <p:cNvPr id="8" name="Text 6"/>
          <p:cNvSpPr/>
          <p:nvPr/>
        </p:nvSpPr>
        <p:spPr>
          <a:xfrm>
            <a:off x="990600" y="2641538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FF8A1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1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24000" y="2677120"/>
            <a:ext cx="574175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Must start with a letter (a–z) or an underscore ( _ 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" y="3200338"/>
            <a:ext cx="10566400" cy="558800"/>
          </a:xfrm>
          <a:prstGeom prst="roundRect">
            <a:avLst>
              <a:gd name="adj" fmla="val 18182"/>
            </a:avLst>
          </a:prstGeom>
          <a:solidFill>
            <a:srgbClr val="262B31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3301938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FF8A1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1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24000" y="3337520"/>
            <a:ext cx="1630124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Case sensitive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2800" y="3860738"/>
            <a:ext cx="10566400" cy="558800"/>
          </a:xfrm>
          <a:prstGeom prst="roundRect">
            <a:avLst>
              <a:gd name="adj" fmla="val 18182"/>
            </a:avLst>
          </a:prstGeom>
          <a:solidFill>
            <a:srgbClr val="262B31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" y="3962338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FF8A1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1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24000" y="3997920"/>
            <a:ext cx="2194878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Can’t use keywords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2800" y="4521138"/>
            <a:ext cx="10566400" cy="558800"/>
          </a:xfrm>
          <a:prstGeom prst="roundRect">
            <a:avLst>
              <a:gd name="adj" fmla="val 18182"/>
            </a:avLst>
          </a:prstGeom>
          <a:solidFill>
            <a:srgbClr val="262B31"/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" y="4622738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FF8A1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1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24000" y="4658320"/>
            <a:ext cx="2458958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Should be descriptive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2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Basics · 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COMMENTS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2EFE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Single-line and multi-line comments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79538"/>
            <a:ext cx="5181600" cy="1798241"/>
          </a:xfrm>
          <a:prstGeom prst="roundRect">
            <a:avLst>
              <a:gd name="adj" fmla="val 5650"/>
            </a:avLst>
          </a:prstGeom>
          <a:solidFill>
            <a:srgbClr val="14171A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133538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8AD14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SINGLE-LINE (#)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2448458"/>
            <a:ext cx="4813808" cy="1000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8AD14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this program finds the</a:t>
            </a:r>
            <a:endParaRPr lang="en-US" sz="1600" dirty="0"/>
          </a:p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8AD14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average attendance of</a:t>
            </a:r>
            <a:endParaRPr lang="en-US" sz="1600" dirty="0"/>
          </a:p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8AD14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monday and tuesday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97600" y="1879538"/>
            <a:ext cx="5181600" cy="1798241"/>
          </a:xfrm>
          <a:prstGeom prst="roundRect">
            <a:avLst>
              <a:gd name="adj" fmla="val 5650"/>
            </a:avLst>
          </a:prstGeom>
          <a:solidFill>
            <a:srgbClr val="14171A"/>
          </a:solidFill>
          <a:ln/>
        </p:spPr>
      </p:sp>
      <p:sp>
        <p:nvSpPr>
          <p:cNvPr id="8" name="Text 6"/>
          <p:cNvSpPr/>
          <p:nvPr/>
        </p:nvSpPr>
        <p:spPr>
          <a:xfrm>
            <a:off x="6451600" y="2133538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8AD14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MULTI-LINE (TRIPLE QUOTES)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51600" y="2448458"/>
            <a:ext cx="4813808" cy="1000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E8A37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"""this program finds the</a:t>
            </a:r>
            <a:endParaRPr lang="en-US" sz="1600" dirty="0"/>
          </a:p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E8A37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average attendance of</a:t>
            </a:r>
            <a:endParaRPr lang="en-US" sz="1600" dirty="0"/>
          </a:p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E8A37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monday and tuesday"""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3880979"/>
            <a:ext cx="915670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3C8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Comments are unexecutable statements: Python ignores them when the program runs.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2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Basics ·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ython Programming Basics">
  <a:themeElements>
    <a:clrScheme name="Python Programming Basics">
      <a:dk1>
        <a:srgbClr val="1B1E22"/>
      </a:dk1>
      <a:lt1>
        <a:srgbClr val="F2EFE8"/>
      </a:lt1>
      <a:dk2>
        <a:srgbClr val="313336"/>
      </a:dk2>
      <a:lt2>
        <a:srgbClr val="BCBBB7"/>
      </a:lt2>
      <a:accent1>
        <a:srgbClr val="FF8A1F"/>
      </a:accent1>
      <a:accent2>
        <a:srgbClr val="8AD14B"/>
      </a:accent2>
      <a:accent3>
        <a:srgbClr val="5A3208"/>
      </a:accent3>
      <a:accent4>
        <a:srgbClr val="E8A37D"/>
      </a:accent4>
      <a:accent5>
        <a:srgbClr val="8B929A"/>
      </a:accent5>
      <a:accent6>
        <a:srgbClr val="C3C8CE"/>
      </a:accent6>
      <a:hlink>
        <a:srgbClr val="0563C1"/>
      </a:hlink>
      <a:folHlink>
        <a:srgbClr val="954F72"/>
      </a:folHlink>
    </a:clrScheme>
    <a:fontScheme name="Python Programming Basics">
      <a:majorFont>
        <a:latin typeface="Rubi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 Basics</dc:title>
  <dc:subject/>
  <dc:creator/>
  <cp:lastModifiedBy/>
  <cp:revision>1</cp:revision>
  <dcterms:created xsi:type="dcterms:W3CDTF">2026-10-19T16:46:17Z</dcterms:created>
  <dcterms:modified xsi:type="dcterms:W3CDTF">2026-10-19T16:46:17Z</dcterms:modified>
</cp:coreProperties>
</file>