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750807"/>
            <a:ext cx="10883392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Basics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680420"/>
            <a:ext cx="10883392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Operators, Data Types, Control Statements, Loops &amp; Functions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7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Operators: used for mathematical calculations.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0486" y="2316428"/>
            <a:ext cx="10848086" cy="256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(Addition)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(Subtraction)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(Multiplication)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(Division)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(Floor division)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(Modulo)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(Exponentiation)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7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Operators: used to compare values.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0486" y="2316428"/>
            <a:ext cx="10848086" cy="220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(Equal to)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!=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(Not equal to)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(Greater than)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(Less than)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(Greater than or equal to)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&lt;=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(Less than or equal to)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7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Operators: used to combine conditional statements.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0486" y="2316428"/>
            <a:ext cx="10848086" cy="11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(Logical AND)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(Logical OR)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(Logical NOT)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Operators: used to compare the memory locations of objects.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0486" y="2316429"/>
            <a:ext cx="10848086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Returns True if both variables are the same object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Returns True if both variables are not the same object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Operators: used to check if a value is part of a sequence.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0486" y="2316429"/>
            <a:ext cx="10848086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Returns True if a value is found in the sequence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Returns True if a value is not found in the sequence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Bitwise Operators: used to manipulate individual bits of data.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0486" y="2316429"/>
            <a:ext cx="10848086" cy="220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(Bitwise AND)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(Bitwise OR)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^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(Bitwise XOR)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(Bitwise NOT)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(Left shift)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(Right shift)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0486" y="1620509"/>
            <a:ext cx="10848086" cy="184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Numeric: int, float, complex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(str)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(bool)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structures: list, tuple, dictionary, set, etc.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&amp; Output in Python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0486" y="1620509"/>
            <a:ext cx="10848086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[Input: reading values from the user, e.g. input()]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[Output: displaying results, e.g. print()]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if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18909"/>
            <a:ext cx="10883392" cy="32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a block of code only when a specified condition is True.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3127313"/>
            <a:ext cx="4064000" cy="1066800"/>
          </a:xfrm>
          <a:prstGeom prst="roundRect">
            <a:avLst>
              <a:gd name="adj" fmla="val 9524"/>
            </a:avLst>
          </a:prstGeom>
          <a:solidFill>
            <a:srgbClr val="2C3135"/>
          </a:solidFill>
          <a:ln/>
        </p:spPr>
        <p:txBody>
          <a:bodyPr wrap="square" lIns="198842" tIns="198842" rIns="90638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condition: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 Code to execute</a:t>
            </a:r>
            <a:endParaRPr lang="en-US" sz="1600" dirty="0"/>
          </a:p>
        </p:txBody>
      </p:sp>
      <p:pic>
        <p:nvPicPr>
          <p:cNvPr id="5" name="Image 0" descr="Flowchart of an if state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81600" y="2019238"/>
            <a:ext cx="5715000" cy="328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if-else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18909"/>
            <a:ext cx="10883392" cy="32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one block of code if the condition is True and another block if it is False.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089088"/>
            <a:ext cx="4064000" cy="2286000"/>
          </a:xfrm>
          <a:prstGeom prst="roundRect">
            <a:avLst>
              <a:gd name="adj" fmla="val 4444"/>
            </a:avLst>
          </a:prstGeom>
          <a:solidFill>
            <a:srgbClr val="2C3135"/>
          </a:solidFill>
          <a:ln/>
        </p:spPr>
        <p:txBody>
          <a:bodyPr wrap="square" lIns="198842" tIns="198842" rIns="90638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condition: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 Code if condition is True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else: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 Code if condition is False</a:t>
            </a:r>
            <a:endParaRPr lang="en-US" sz="1600" dirty="0"/>
          </a:p>
        </p:txBody>
      </p:sp>
      <p:pic>
        <p:nvPicPr>
          <p:cNvPr id="5" name="Image 0" descr="Flowchart of an if-else state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81600" y="2019238"/>
            <a:ext cx="57150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if-elif-else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18909"/>
            <a:ext cx="10883392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multiple conditions and runs the block of the first True condition. The else block runs if none is True.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430661"/>
            <a:ext cx="4064000" cy="3200400"/>
          </a:xfrm>
          <a:prstGeom prst="roundRect">
            <a:avLst>
              <a:gd name="adj" fmla="val 3175"/>
            </a:avLst>
          </a:prstGeom>
          <a:solidFill>
            <a:srgbClr val="2C3135"/>
          </a:solidFill>
          <a:ln/>
        </p:spPr>
        <p:txBody>
          <a:bodyPr wrap="square" lIns="198842" tIns="198842" rIns="90638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condition1: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 Code for condition1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elif condition2: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 Code for condition2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elif condition3: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 Code for condition3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else: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 Code if no condition is True</a:t>
            </a:r>
            <a:endParaRPr lang="en-US" sz="1600" dirty="0"/>
          </a:p>
        </p:txBody>
      </p:sp>
      <p:pic>
        <p:nvPicPr>
          <p:cNvPr id="5" name="Image 0" descr="Flowchart of an if-elif-else state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81600" y="2316361"/>
            <a:ext cx="5715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Nested if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18909"/>
            <a:ext cx="11379200" cy="32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if statement placed inside another if statement, used when a decision depends on another condition.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644713"/>
            <a:ext cx="4064000" cy="1676400"/>
          </a:xfrm>
          <a:prstGeom prst="roundRect">
            <a:avLst>
              <a:gd name="adj" fmla="val 6061"/>
            </a:avLst>
          </a:prstGeom>
          <a:solidFill>
            <a:srgbClr val="2C3135"/>
          </a:solidFill>
          <a:ln/>
        </p:spPr>
        <p:txBody>
          <a:bodyPr wrap="square" lIns="198842" tIns="198842" rIns="90638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condition1: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condition2: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# Code if both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# conditions are True</a:t>
            </a:r>
            <a:endParaRPr lang="en-US" sz="1600" dirty="0"/>
          </a:p>
        </p:txBody>
      </p:sp>
      <p:pic>
        <p:nvPicPr>
          <p:cNvPr id="5" name="Image 0" descr="Flowchart of a nested if state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81600" y="2019238"/>
            <a:ext cx="5715000" cy="2927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Ternary Operator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18909"/>
            <a:ext cx="10883392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9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conditional expression (conditional expression) that returns one value if a condition is True and another if it is False.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843411"/>
            <a:ext cx="4064000" cy="1371600"/>
          </a:xfrm>
          <a:prstGeom prst="roundRect">
            <a:avLst>
              <a:gd name="adj" fmla="val 7407"/>
            </a:avLst>
          </a:prstGeom>
          <a:solidFill>
            <a:srgbClr val="2C3135"/>
          </a:solidFill>
          <a:ln/>
        </p:spPr>
        <p:txBody>
          <a:bodyPr wrap="square" lIns="198842" tIns="198842" rIns="90638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value_if_true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condition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else value_if_false</a:t>
            </a:r>
            <a:endParaRPr lang="en-US" sz="1600" dirty="0"/>
          </a:p>
        </p:txBody>
      </p:sp>
      <p:pic>
        <p:nvPicPr>
          <p:cNvPr id="5" name="Image 0" descr="Flowchart of a ternary opera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81600" y="2316361"/>
            <a:ext cx="57150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0486" y="1620509"/>
            <a:ext cx="10848086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2200" dirty="0"/>
          </a:p>
          <a:p>
            <a:pPr algn="l" marL="226314" indent="-226314">
              <a:lnSpc>
                <a:spcPts val="2860"/>
              </a:lnSpc>
              <a:buSzPct val="100000"/>
              <a:buChar char="•"/>
            </a:pPr>
            <a:r>
              <a:rPr lang="en-US" sz="22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15"/>
            <a:ext cx="10566400" cy="1178520"/>
          </a:xfrm>
          <a:prstGeom prst="roundRect">
            <a:avLst>
              <a:gd name="adj" fmla="val 8621"/>
            </a:avLst>
          </a:prstGeom>
          <a:solidFill>
            <a:srgbClr val="2C3135"/>
          </a:solidFill>
          <a:ln/>
        </p:spPr>
        <p:txBody>
          <a:bodyPr wrap="square" lIns="275042" tIns="275042" rIns="0" bIns="249642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</a:t>
            </a:r>
            <a:r>
              <a:rPr lang="en-US" sz="3200" dirty="0">
                <a:solidFill>
                  <a:srgbClr val="F5822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functionName</a:t>
            </a:r>
            <a:r>
              <a:rPr lang="en-US" sz="3200" dirty="0">
                <a:solidFill>
                  <a:srgbClr val="F1EDE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(parameters):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3801269" y="2588295"/>
            <a:ext cx="458946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516648" y="3629695"/>
            <a:ext cx="1158637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cs: Operators, Data Types &amp; Control Flow">
  <a:themeElements>
    <a:clrScheme name="Python Basics: Operators, Data Types &amp; Control Flow">
      <a:dk1>
        <a:srgbClr val="1F2326"/>
      </a:dk1>
      <a:lt1>
        <a:srgbClr val="F1EDE4"/>
      </a:lt1>
      <a:dk2>
        <a:srgbClr val="343739"/>
      </a:dk2>
      <a:lt2>
        <a:srgbClr val="BDBBB5"/>
      </a:lt2>
      <a:accent1>
        <a:srgbClr val="F58220"/>
      </a:accent1>
      <a:accent2>
        <a:srgbClr val="B9B4A8"/>
      </a:accent2>
      <a:accent3>
        <a:srgbClr val="9AA0A6"/>
      </a:accent3>
      <a:accent4>
        <a:srgbClr val="9D9C98"/>
      </a:accent4>
      <a:accent5>
        <a:srgbClr val="7E7E7C"/>
      </a:accent5>
      <a:accent6>
        <a:srgbClr val="5E605F"/>
      </a:accent6>
      <a:hlink>
        <a:srgbClr val="0563C1"/>
      </a:hlink>
      <a:folHlink>
        <a:srgbClr val="954F72"/>
      </a:folHlink>
    </a:clrScheme>
    <a:fontScheme name="Python Basics: Operators, Data Types &amp; Control Flo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Basics: Operators, Data Types &amp; Control Flow</dc:title>
  <dc:subject/>
  <dc:creator/>
  <cp:lastModifiedBy/>
  <cp:revision>1</cp:revision>
  <dcterms:created xsi:type="dcterms:W3CDTF">2026-10-19T17:22:23Z</dcterms:created>
  <dcterms:modified xsi:type="dcterms:W3CDTF">2026-10-19T17:22:23Z</dcterms:modified>
</cp:coreProperties>
</file>